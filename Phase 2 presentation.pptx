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bookmarkIdSeed="17">
  <p:sldMasterIdLst>
    <p:sldMasterId id="2147483665" r:id="rId1"/>
  </p:sldMasterIdLst>
  <p:notesMasterIdLst>
    <p:notesMasterId r:id="rId6"/>
  </p:notesMasterIdLst>
  <p:handoutMasterIdLst>
    <p:handoutMasterId r:id="rId7"/>
  </p:handoutMasterIdLst>
  <p:sldIdLst>
    <p:sldId id="256" r:id="rId2"/>
    <p:sldId id="277" r:id="rId3"/>
    <p:sldId id="278" r:id="rId4"/>
    <p:sldId id="257"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4434" autoAdjust="0"/>
  </p:normalViewPr>
  <p:slideViewPr>
    <p:cSldViewPr snapToGrid="0">
      <p:cViewPr varScale="1">
        <p:scale>
          <a:sx n="87" d="100"/>
          <a:sy n="87" d="100"/>
        </p:scale>
        <p:origin x="706" y="6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45D5A0-FF6D-4967-95F9-28229F6098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a:extLst>
              <a:ext uri="{FF2B5EF4-FFF2-40B4-BE49-F238E27FC236}">
                <a16:creationId xmlns:a16="http://schemas.microsoft.com/office/drawing/2014/main" id="{42D47EC0-089B-4CCC-9A0C-01583B702E7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033582-4417-4EA6-BB97-C812BC6FF5AA}" type="datetimeFigureOut">
              <a:rPr lang="LID4096" smtClean="0"/>
              <a:t>03/28/2023</a:t>
            </a:fld>
            <a:endParaRPr lang="LID4096"/>
          </a:p>
        </p:txBody>
      </p:sp>
      <p:sp>
        <p:nvSpPr>
          <p:cNvPr id="4" name="Footer Placeholder 3">
            <a:extLst>
              <a:ext uri="{FF2B5EF4-FFF2-40B4-BE49-F238E27FC236}">
                <a16:creationId xmlns:a16="http://schemas.microsoft.com/office/drawing/2014/main" id="{9BD0555E-B4ED-4825-B28B-F2F2548A8DF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5" name="Slide Number Placeholder 4">
            <a:extLst>
              <a:ext uri="{FF2B5EF4-FFF2-40B4-BE49-F238E27FC236}">
                <a16:creationId xmlns:a16="http://schemas.microsoft.com/office/drawing/2014/main" id="{F4208814-1B64-42D3-B815-9A4ADEA6F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6349C1-98E1-4059-AA8E-43356A24F17F}" type="slidenum">
              <a:rPr lang="LID4096" smtClean="0"/>
              <a:t>‹#›</a:t>
            </a:fld>
            <a:endParaRPr lang="LID4096"/>
          </a:p>
        </p:txBody>
      </p:sp>
    </p:spTree>
    <p:extLst>
      <p:ext uri="{BB962C8B-B14F-4D97-AF65-F5344CB8AC3E}">
        <p14:creationId xmlns:p14="http://schemas.microsoft.com/office/powerpoint/2010/main" val="404682500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8DED05-D912-4DB1-BA42-9A9AC1AE2438}" type="datetimeFigureOut">
              <a:rPr lang="en-GB" smtClean="0"/>
              <a:t>28/03/2023</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8C04B-2186-45B3-A7A1-EE52EA2AD3FA}" type="slidenum">
              <a:rPr lang="en-GB" smtClean="0"/>
              <a:t>‹#›</a:t>
            </a:fld>
            <a:endParaRPr lang="en-GB" dirty="0"/>
          </a:p>
        </p:txBody>
      </p:sp>
    </p:spTree>
    <p:extLst>
      <p:ext uri="{BB962C8B-B14F-4D97-AF65-F5344CB8AC3E}">
        <p14:creationId xmlns:p14="http://schemas.microsoft.com/office/powerpoint/2010/main" val="221557781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E900FB-2D1D-42BE-A564-D15429D42AC7}" type="datetime1">
              <a:rPr lang="en-US" smtClean="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7730889"/>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50EC56-9D79-4257-BD01-75EFCE01CCE0}" type="datetime1">
              <a:rPr lang="en-US" smtClean="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51127"/>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78157A-A7E3-49B4-9268-A96912C08706}" type="datetime1">
              <a:rPr lang="en-US" smtClean="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8119625"/>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E84CF3-A1A7-4C99-9771-217619C940CD}" type="datetime1">
              <a:rPr lang="en-US" smtClean="0"/>
              <a:t>3/28/2023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8675014"/>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F7E5A7-6D3F-47DA-938B-D3049E9007DA}" type="datetime1">
              <a:rPr lang="en-US" smtClean="0"/>
              <a:t>3/28/2023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490944"/>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1080D3-3BE5-46B7-8168-F1D0E1DA4148}" type="datetime1">
              <a:rPr lang="en-US" smtClean="0"/>
              <a:t>3/28/2023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4874901"/>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90AE4F-2C5C-430E-BAB6-73C8A98D38DD}" type="datetime1">
              <a:rPr lang="en-US" smtClean="0"/>
              <a:t>3/28/2023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8895237"/>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220B80-450D-4C68-8319-225DE991B320}" type="datetime1">
              <a:rPr lang="en-US" smtClean="0"/>
              <a:t>3/28/2023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6264022"/>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9CCB05-9555-471C-BB98-0F7500D21457}" type="datetime1">
              <a:rPr lang="en-US" smtClean="0"/>
              <a:t>3/28/2023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9963430"/>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8A6191-7947-4ED7-966D-C35B10ECEEF8}" type="datetime1">
              <a:rPr lang="en-US" smtClean="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3519656"/>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A85921-B539-4E51-A725-E43E4A4662A7}" type="datetime1">
              <a:rPr lang="en-US" smtClean="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01098593"/>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272AB35-8299-43CF-A4C9-A96424F3269E}" type="datetime1">
              <a:rPr lang="en-US" smtClean="0"/>
              <a:t>3/28/2023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70875256"/>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CEF6B11-BA79-47FE-A07A-3A518D8AA53B}" type="datetime1">
              <a:rPr lang="en-US" smtClean="0"/>
              <a:t>3/28/2023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43803860"/>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0E6B9C-5F62-4560-A56B-8FBA9C07D233}" type="datetime1">
              <a:rPr lang="en-US" smtClean="0"/>
              <a:t>3/28/2023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6414210"/>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CBADDA-2E5C-42A4-942C-233C7FA3DEE4}" type="datetime1">
              <a:rPr lang="en-US" smtClean="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6023573"/>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363D44-6127-4519-8CBC-49EB0A2C1C0D}" type="datetime1">
              <a:rPr lang="en-US" smtClean="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40276350"/>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CD71A2C-A006-4A0C-9FD6-202C7EC54ABB}" type="datetime1">
              <a:rPr lang="en-US" smtClean="0"/>
              <a:t>3/28/2023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213046"/>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ransition spd="slow">
    <p:push dir="u"/>
  </p:transition>
  <p:hf sldNum="0" hdr="0" ftr="0" dt="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62539" y="545911"/>
            <a:ext cx="9369287" cy="5258542"/>
          </a:xfrm>
        </p:spPr>
        <p:txBody>
          <a:bodyPr>
            <a:normAutofit/>
          </a:bodyPr>
          <a:lstStyle/>
          <a:p>
            <a:pPr algn="ctr"/>
            <a:r>
              <a:rPr lang="en-US" b="1" dirty="0" smtClean="0">
                <a:solidFill>
                  <a:schemeClr val="tx1"/>
                </a:solidFill>
                <a:latin typeface="Times New Roman" panose="02020603050405020304" pitchFamily="18" charset="0"/>
                <a:cs typeface="Times New Roman" panose="02020603050405020304" pitchFamily="18" charset="0"/>
              </a:rPr>
              <a:t>Phase 2 project</a:t>
            </a:r>
            <a:r>
              <a:rPr lang="en-US" dirty="0"/>
              <a:t/>
            </a:r>
            <a:br>
              <a:rPr lang="en-US" dirty="0"/>
            </a:br>
            <a:r>
              <a:rPr lang="en-GB" dirty="0"/>
              <a:t/>
            </a:r>
            <a:br>
              <a:rPr lang="en-GB" dirty="0"/>
            </a:br>
            <a:r>
              <a:rPr lang="en-US" dirty="0"/>
              <a:t/>
            </a:r>
            <a:br>
              <a:rPr lang="en-US" dirty="0"/>
            </a:br>
            <a:endParaRPr lang="en-GB" dirty="0"/>
          </a:p>
        </p:txBody>
      </p:sp>
      <p:sp>
        <p:nvSpPr>
          <p:cNvPr id="3" name="Subtitle 2"/>
          <p:cNvSpPr>
            <a:spLocks noGrp="1"/>
          </p:cNvSpPr>
          <p:nvPr>
            <p:ph type="subTitle" idx="1"/>
          </p:nvPr>
        </p:nvSpPr>
        <p:spPr>
          <a:xfrm>
            <a:off x="2589213" y="3297115"/>
            <a:ext cx="8915399" cy="3560885"/>
          </a:xfrm>
        </p:spPr>
        <p:txBody>
          <a:bodyPr>
            <a:normAutofit fontScale="25000" lnSpcReduction="20000"/>
          </a:bodyPr>
          <a:lstStyle/>
          <a:p>
            <a:pPr algn="ctr"/>
            <a:r>
              <a:rPr lang="en-US" sz="2000" b="1" dirty="0">
                <a:cs typeface="Arial" panose="020B0604020202020204" pitchFamily="34" charset="0"/>
              </a:rPr>
              <a:t>A</a:t>
            </a:r>
            <a:r>
              <a:rPr lang="en-US" sz="2000" b="1" dirty="0" smtClean="0">
                <a:cs typeface="Arial" panose="020B0604020202020204" pitchFamily="34" charset="0"/>
              </a:rPr>
              <a:t>ims </a:t>
            </a:r>
            <a:r>
              <a:rPr lang="en-US" sz="2000" b="1" dirty="0">
                <a:cs typeface="Arial" panose="020B0604020202020204" pitchFamily="34" charset="0"/>
              </a:rPr>
              <a:t>for taking part in "AFRIKA KOMMT</a:t>
            </a:r>
            <a:r>
              <a:rPr lang="en-US" sz="2000" b="1" dirty="0" smtClean="0">
                <a:cs typeface="Arial" panose="020B0604020202020204" pitchFamily="34" charset="0"/>
              </a:rPr>
              <a:t>!</a:t>
            </a:r>
          </a:p>
          <a:p>
            <a:endParaRPr lang="en-US" sz="1700" b="1" dirty="0">
              <a:solidFill>
                <a:schemeClr val="tx1"/>
              </a:solidFill>
              <a:latin typeface="Times New Roman" panose="02020603050405020304" pitchFamily="18" charset="0"/>
              <a:cs typeface="Times New Roman" panose="02020603050405020304" pitchFamily="18" charset="0"/>
            </a:endParaRPr>
          </a:p>
          <a:p>
            <a:r>
              <a:rPr lang="en-US" sz="5100" b="1" dirty="0" smtClean="0">
                <a:solidFill>
                  <a:schemeClr val="tx1"/>
                </a:solidFill>
                <a:latin typeface="Times New Roman" panose="02020603050405020304" pitchFamily="18" charset="0"/>
                <a:cs typeface="Times New Roman" panose="02020603050405020304" pitchFamily="18" charset="0"/>
              </a:rPr>
              <a:t> </a:t>
            </a:r>
            <a:r>
              <a:rPr lang="en-US" sz="5100" b="1" dirty="0">
                <a:solidFill>
                  <a:schemeClr val="tx1"/>
                </a:solidFill>
                <a:latin typeface="Times New Roman" panose="02020603050405020304" pitchFamily="18" charset="0"/>
                <a:cs typeface="Times New Roman" panose="02020603050405020304" pitchFamily="18" charset="0"/>
              </a:rPr>
              <a:t>Project Overview</a:t>
            </a:r>
          </a:p>
          <a:p>
            <a:pPr marL="342900" indent="-342900">
              <a:buFont typeface="Arial" panose="020B0604020202020204" pitchFamily="34" charset="0"/>
              <a:buChar char="•"/>
            </a:pPr>
            <a:endParaRPr lang="en-US" sz="1700" b="1"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6000" b="1" dirty="0">
                <a:solidFill>
                  <a:schemeClr val="tx1"/>
                </a:solidFill>
                <a:latin typeface="Times New Roman" panose="02020603050405020304" pitchFamily="18" charset="0"/>
                <a:cs typeface="Times New Roman" panose="02020603050405020304" pitchFamily="18" charset="0"/>
              </a:rPr>
              <a:t>For this project, you will use regression modeling to analyze house sales in a northwestern county.</a:t>
            </a:r>
          </a:p>
          <a:p>
            <a:pPr marL="342900" indent="-342900">
              <a:buFont typeface="Arial" panose="020B0604020202020204" pitchFamily="34" charset="0"/>
              <a:buChar char="•"/>
            </a:pPr>
            <a:endParaRPr lang="en-US" sz="6000" b="1"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6000" b="1" dirty="0">
                <a:solidFill>
                  <a:schemeClr val="tx1"/>
                </a:solidFill>
                <a:latin typeface="Times New Roman" panose="02020603050405020304" pitchFamily="18" charset="0"/>
                <a:cs typeface="Times New Roman" panose="02020603050405020304" pitchFamily="18" charset="0"/>
              </a:rPr>
              <a:t>### The Data</a:t>
            </a:r>
          </a:p>
          <a:p>
            <a:pPr marL="342900" indent="-342900">
              <a:buFont typeface="Arial" panose="020B0604020202020204" pitchFamily="34" charset="0"/>
              <a:buChar char="•"/>
            </a:pPr>
            <a:endParaRPr lang="en-US" sz="6000" b="1"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6000" b="1" dirty="0">
                <a:solidFill>
                  <a:schemeClr val="tx1"/>
                </a:solidFill>
                <a:latin typeface="Times New Roman" panose="02020603050405020304" pitchFamily="18" charset="0"/>
                <a:cs typeface="Times New Roman" panose="02020603050405020304" pitchFamily="18" charset="0"/>
              </a:rPr>
              <a:t>This project makes use of the King County House Sales dataset, which is available in the data folder of this repository as kc house data.csv. Column names.md, which is located in the same folder, has a description of the column names. Like most real-world data sets, the column names are not completely described, so if you have any questions about what the data means, you'll need to do some research or use your best judgment.</a:t>
            </a:r>
          </a:p>
          <a:p>
            <a:pPr marL="342900" indent="-342900">
              <a:buFont typeface="Arial" panose="020B0604020202020204" pitchFamily="34" charset="0"/>
              <a:buChar char="•"/>
            </a:pPr>
            <a:endParaRPr 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142061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E77C1-1FC2-466B-9A31-299483E774AF}"/>
              </a:ext>
            </a:extLst>
          </p:cNvPr>
          <p:cNvSpPr>
            <a:spLocks noGrp="1"/>
          </p:cNvSpPr>
          <p:nvPr>
            <p:ph type="title"/>
          </p:nvPr>
        </p:nvSpPr>
        <p:spPr>
          <a:xfrm>
            <a:off x="2611315" y="703240"/>
            <a:ext cx="4202724" cy="1160729"/>
          </a:xfrm>
        </p:spPr>
        <p:txBody>
          <a:bodyPr>
            <a:normAutofit/>
          </a:bodyPr>
          <a:lstStyle/>
          <a:p>
            <a:r>
              <a:rPr lang="en-US" b="1" dirty="0" smtClean="0">
                <a:solidFill>
                  <a:schemeClr val="tx1"/>
                </a:solidFill>
                <a:latin typeface="Times New Roman" panose="02020603050405020304" pitchFamily="18" charset="0"/>
                <a:cs typeface="Times New Roman" panose="02020603050405020304" pitchFamily="18" charset="0"/>
              </a:rPr>
              <a:t>Business Problem</a:t>
            </a:r>
            <a:endParaRPr lang="LID4096"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92D939-5E30-4035-9F17-E17EF8C57585}"/>
              </a:ext>
            </a:extLst>
          </p:cNvPr>
          <p:cNvSpPr>
            <a:spLocks noGrp="1"/>
          </p:cNvSpPr>
          <p:nvPr>
            <p:ph idx="1"/>
          </p:nvPr>
        </p:nvSpPr>
        <p:spPr>
          <a:xfrm>
            <a:off x="1617786" y="2479430"/>
            <a:ext cx="8519745" cy="2637693"/>
          </a:xfrm>
        </p:spPr>
        <p:txBody>
          <a:bodyPr>
            <a:normAutofit/>
          </a:bodyPr>
          <a:lstStyle/>
          <a:p>
            <a:pPr marL="0" indent="0">
              <a:buNone/>
            </a:pPr>
            <a:endParaRPr lang="en-US" sz="1600" b="1"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dirty="0">
                <a:solidFill>
                  <a:schemeClr val="tx1"/>
                </a:solidFill>
                <a:latin typeface="Times New Roman" panose="02020603050405020304" pitchFamily="18" charset="0"/>
                <a:cs typeface="Times New Roman" panose="02020603050405020304" pitchFamily="18" charset="0"/>
              </a:rPr>
              <a:t> I want to create a model with these data that will allow me to forecast the price of a house using the characteristics of the data about the house. We can help both the seller find their business in this situation. The model can be used by the seller to estimate the selling price of their home and determine whether any renovations are necessary before they can sell it. Based on their budget, the buyer may receive some recommendations for the type of home they can afford.</a:t>
            </a:r>
            <a:endParaRPr lang="en-US" sz="1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61608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a:xfrm>
            <a:off x="2589212" y="1230923"/>
            <a:ext cx="8915400" cy="5037992"/>
          </a:xfrm>
        </p:spPr>
        <p:txBody>
          <a:bodyPr>
            <a:normAutofit fontScale="25000" lnSpcReduction="20000"/>
          </a:bodyPr>
          <a:lstStyle/>
          <a:p>
            <a:endParaRPr lang="en-US" dirty="0"/>
          </a:p>
          <a:p>
            <a:r>
              <a:rPr lang="en-US" sz="6400" dirty="0">
                <a:latin typeface="Times New Roman" panose="02020603050405020304" pitchFamily="18" charset="0"/>
                <a:cs typeface="Times New Roman" panose="02020603050405020304" pitchFamily="18" charset="0"/>
              </a:rPr>
              <a:t>To the point of goal:</a:t>
            </a:r>
          </a:p>
          <a:p>
            <a:endParaRPr lang="en-US" sz="6400" dirty="0">
              <a:latin typeface="Times New Roman" panose="02020603050405020304" pitchFamily="18" charset="0"/>
              <a:cs typeface="Times New Roman" panose="02020603050405020304" pitchFamily="18" charset="0"/>
            </a:endParaRPr>
          </a:p>
          <a:p>
            <a:r>
              <a:rPr lang="en-US" sz="6400" dirty="0">
                <a:latin typeface="Times New Roman" panose="02020603050405020304" pitchFamily="18" charset="0"/>
                <a:cs typeface="Times New Roman" panose="02020603050405020304" pitchFamily="18" charset="0"/>
              </a:rPr>
              <a:t>Remove information from the pricing that has no meaning or is null.</a:t>
            </a:r>
          </a:p>
          <a:p>
            <a:r>
              <a:rPr lang="en-US" sz="6400" dirty="0">
                <a:latin typeface="Times New Roman" panose="02020603050405020304" pitchFamily="18" charset="0"/>
                <a:cs typeface="Times New Roman" panose="02020603050405020304" pitchFamily="18" charset="0"/>
              </a:rPr>
              <a:t>Remove any features that don't increase the value of the home.</a:t>
            </a:r>
          </a:p>
          <a:p>
            <a:r>
              <a:rPr lang="en-US" sz="6400" dirty="0">
                <a:latin typeface="Times New Roman" panose="02020603050405020304" pitchFamily="18" charset="0"/>
                <a:cs typeface="Times New Roman" panose="02020603050405020304" pitchFamily="18" charset="0"/>
              </a:rPr>
              <a:t>Delete any null values</a:t>
            </a:r>
          </a:p>
          <a:p>
            <a:r>
              <a:rPr lang="en-US" sz="6400" dirty="0">
                <a:latin typeface="Times New Roman" panose="02020603050405020304" pitchFamily="18" charset="0"/>
                <a:cs typeface="Times New Roman" panose="02020603050405020304" pitchFamily="18" charset="0"/>
              </a:rPr>
              <a:t>Using scatter plots and </a:t>
            </a:r>
            <a:r>
              <a:rPr lang="en-US" sz="6400" dirty="0" err="1">
                <a:latin typeface="Times New Roman" panose="02020603050405020304" pitchFamily="18" charset="0"/>
                <a:cs typeface="Times New Roman" panose="02020603050405020304" pitchFamily="18" charset="0"/>
              </a:rPr>
              <a:t>qqplots</a:t>
            </a:r>
            <a:r>
              <a:rPr lang="en-US" sz="6400" dirty="0">
                <a:latin typeface="Times New Roman" panose="02020603050405020304" pitchFamily="18" charset="0"/>
                <a:cs typeface="Times New Roman" panose="02020603050405020304" pitchFamily="18" charset="0"/>
              </a:rPr>
              <a:t>, see if there are any highly connected characteristics that may be deleted.</a:t>
            </a:r>
          </a:p>
          <a:p>
            <a:r>
              <a:rPr lang="en-US" sz="6400" dirty="0">
                <a:latin typeface="Times New Roman" panose="02020603050405020304" pitchFamily="18" charset="0"/>
                <a:cs typeface="Times New Roman" panose="02020603050405020304" pitchFamily="18" charset="0"/>
              </a:rPr>
              <a:t>construct the model of linear regression.</a:t>
            </a:r>
          </a:p>
          <a:p>
            <a:r>
              <a:rPr lang="en-US" sz="6400" dirty="0">
                <a:latin typeface="Times New Roman" panose="02020603050405020304" pitchFamily="18" charset="0"/>
                <a:cs typeface="Times New Roman" panose="02020603050405020304" pitchFamily="18" charset="0"/>
              </a:rPr>
              <a:t>analyze how the features can affect the price of the house</a:t>
            </a:r>
          </a:p>
          <a:p>
            <a:endParaRPr lang="en-US" sz="6400" dirty="0">
              <a:latin typeface="Times New Roman" panose="02020603050405020304" pitchFamily="18" charset="0"/>
              <a:cs typeface="Times New Roman" panose="02020603050405020304" pitchFamily="18" charset="0"/>
            </a:endParaRPr>
          </a:p>
          <a:p>
            <a:r>
              <a:rPr lang="en-US" sz="6400" dirty="0">
                <a:latin typeface="Times New Roman" panose="02020603050405020304" pitchFamily="18" charset="0"/>
                <a:cs typeface="Times New Roman" panose="02020603050405020304" pitchFamily="18" charset="0"/>
              </a:rPr>
              <a:t>I polished most of the columns that didn't add to the cost of the home and removed them.</a:t>
            </a:r>
          </a:p>
          <a:p>
            <a:endParaRPr lang="en-US" sz="6400" dirty="0">
              <a:latin typeface="Times New Roman" panose="02020603050405020304" pitchFamily="18" charset="0"/>
              <a:cs typeface="Times New Roman" panose="02020603050405020304" pitchFamily="18" charset="0"/>
            </a:endParaRPr>
          </a:p>
          <a:p>
            <a:r>
              <a:rPr lang="en-US" sz="6400" dirty="0">
                <a:latin typeface="Times New Roman" panose="02020603050405020304" pitchFamily="18" charset="0"/>
                <a:cs typeface="Times New Roman" panose="02020603050405020304" pitchFamily="18" charset="0"/>
              </a:rPr>
              <a:t>The ID has nothing to do with the cost.</a:t>
            </a:r>
          </a:p>
          <a:p>
            <a:r>
              <a:rPr lang="en-US" sz="6400" dirty="0">
                <a:latin typeface="Times New Roman" panose="02020603050405020304" pitchFamily="18" charset="0"/>
                <a:cs typeface="Times New Roman" panose="02020603050405020304" pitchFamily="18" charset="0"/>
              </a:rPr>
              <a:t>Separate the date file into the year and month.</a:t>
            </a:r>
          </a:p>
          <a:p>
            <a:r>
              <a:rPr lang="en-US" sz="6400" dirty="0">
                <a:latin typeface="Times New Roman" panose="02020603050405020304" pitchFamily="18" charset="0"/>
                <a:cs typeface="Times New Roman" panose="02020603050405020304" pitchFamily="18" charset="0"/>
              </a:rPr>
              <a:t>I need to eliminate the </a:t>
            </a:r>
            <a:r>
              <a:rPr lang="en-US" sz="6400" dirty="0" err="1">
                <a:latin typeface="Times New Roman" panose="02020603050405020304" pitchFamily="18" charset="0"/>
                <a:cs typeface="Times New Roman" panose="02020603050405020304" pitchFamily="18" charset="0"/>
              </a:rPr>
              <a:t>lat</a:t>
            </a:r>
            <a:r>
              <a:rPr lang="en-US" sz="6400" dirty="0">
                <a:latin typeface="Times New Roman" panose="02020603050405020304" pitchFamily="18" charset="0"/>
                <a:cs typeface="Times New Roman" panose="02020603050405020304" pitchFamily="18" charset="0"/>
              </a:rPr>
              <a:t> and long data because of how strongly they connect to the </a:t>
            </a:r>
            <a:r>
              <a:rPr lang="en-US" sz="6400" dirty="0" err="1">
                <a:latin typeface="Times New Roman" panose="02020603050405020304" pitchFamily="18" charset="0"/>
                <a:cs typeface="Times New Roman" panose="02020603050405020304" pitchFamily="18" charset="0"/>
              </a:rPr>
              <a:t>zipcode</a:t>
            </a:r>
            <a:r>
              <a:rPr lang="en-US" sz="64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04875245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0014" y="1"/>
            <a:ext cx="1995855" cy="1058635"/>
          </a:xfrm>
        </p:spPr>
        <p:txBody>
          <a:bodyPr>
            <a:normAutofit fontScale="90000"/>
          </a:bodyPr>
          <a:lstStyle/>
          <a:p>
            <a:r>
              <a:rPr lang="en-US" sz="3100" b="1" dirty="0" smtClean="0">
                <a:solidFill>
                  <a:schemeClr val="tx1"/>
                </a:solidFill>
                <a:latin typeface="Times New Roman" panose="02020603050405020304" pitchFamily="18" charset="0"/>
                <a:cs typeface="Times New Roman" panose="02020603050405020304" pitchFamily="18" charset="0"/>
              </a:rPr>
              <a:t>Summary</a:t>
            </a:r>
            <a:r>
              <a:rPr lang="en-US" sz="3100" dirty="0" smtClean="0"/>
              <a:t/>
            </a:r>
            <a:br>
              <a:rPr lang="en-US" sz="3100" dirty="0" smtClean="0"/>
            </a:br>
            <a:r>
              <a:rPr lang="en-US" dirty="0" smtClean="0"/>
              <a:t/>
            </a:r>
            <a:br>
              <a:rPr lang="en-US" dirty="0" smtClean="0"/>
            </a:br>
            <a:endParaRPr lang="en-GB" dirty="0"/>
          </a:p>
        </p:txBody>
      </p:sp>
      <p:sp>
        <p:nvSpPr>
          <p:cNvPr id="3" name="Content Placeholder 2"/>
          <p:cNvSpPr>
            <a:spLocks noGrp="1"/>
          </p:cNvSpPr>
          <p:nvPr>
            <p:ph idx="1"/>
          </p:nvPr>
        </p:nvSpPr>
        <p:spPr>
          <a:xfrm>
            <a:off x="1326492" y="529318"/>
            <a:ext cx="8618754" cy="5231423"/>
          </a:xfrm>
        </p:spPr>
        <p:txBody>
          <a:bodyPr anchor="ctr">
            <a:noAutofit/>
          </a:bodyPr>
          <a:lstStyle/>
          <a:p>
            <a:r>
              <a:rPr lang="en-US" dirty="0">
                <a:latin typeface="Times New Roman" panose="02020603050405020304" pitchFamily="18" charset="0"/>
                <a:cs typeface="Times New Roman" panose="02020603050405020304" pitchFamily="18" charset="0"/>
              </a:rPr>
              <a:t>The Coefficient of all the features show how each of the feature affect the house price. Briefly, for the house size, the </a:t>
            </a:r>
            <a:r>
              <a:rPr lang="en-US" dirty="0" err="1">
                <a:latin typeface="Times New Roman" panose="02020603050405020304" pitchFamily="18" charset="0"/>
                <a:cs typeface="Times New Roman" panose="02020603050405020304" pitchFamily="18" charset="0"/>
              </a:rPr>
              <a:t>sqft_living</a:t>
            </a:r>
            <a:r>
              <a:rPr lang="en-US" dirty="0">
                <a:latin typeface="Times New Roman" panose="02020603050405020304" pitchFamily="18" charset="0"/>
                <a:cs typeface="Times New Roman" panose="02020603050405020304" pitchFamily="18" charset="0"/>
              </a:rPr>
              <a:t> had value </a:t>
            </a:r>
            <a:r>
              <a:rPr lang="en-US" dirty="0" smtClean="0">
                <a:latin typeface="Times New Roman" panose="02020603050405020304" pitchFamily="18" charset="0"/>
                <a:cs typeface="Times New Roman" panose="02020603050405020304" pitchFamily="18" charset="0"/>
              </a:rPr>
              <a:t>73 </a:t>
            </a:r>
            <a:r>
              <a:rPr lang="en-US" dirty="0">
                <a:latin typeface="Times New Roman" panose="02020603050405020304" pitchFamily="18" charset="0"/>
                <a:cs typeface="Times New Roman" panose="02020603050405020304" pitchFamily="18" charset="0"/>
              </a:rPr>
              <a:t>which suggests that increasing 1 </a:t>
            </a:r>
            <a:r>
              <a:rPr lang="en-US" dirty="0" err="1">
                <a:latin typeface="Times New Roman" panose="02020603050405020304" pitchFamily="18" charset="0"/>
                <a:cs typeface="Times New Roman" panose="02020603050405020304" pitchFamily="18" charset="0"/>
              </a:rPr>
              <a:t>sqrt</a:t>
            </a:r>
            <a:r>
              <a:rPr lang="en-US" dirty="0">
                <a:latin typeface="Times New Roman" panose="02020603050405020304" pitchFamily="18" charset="0"/>
                <a:cs typeface="Times New Roman" panose="02020603050405020304" pitchFamily="18" charset="0"/>
              </a:rPr>
              <a:t> of living area, the house </a:t>
            </a:r>
            <a:r>
              <a:rPr lang="en-US" dirty="0" smtClean="0">
                <a:latin typeface="Times New Roman" panose="02020603050405020304" pitchFamily="18" charset="0"/>
                <a:cs typeface="Times New Roman" panose="02020603050405020304" pitchFamily="18" charset="0"/>
              </a:rPr>
              <a:t>price </a:t>
            </a:r>
            <a:r>
              <a:rPr lang="en-US" dirty="0">
                <a:latin typeface="Times New Roman" panose="02020603050405020304" pitchFamily="18" charset="0"/>
                <a:cs typeface="Times New Roman" panose="02020603050405020304" pitchFamily="18" charset="0"/>
              </a:rPr>
              <a:t>will increase 114 dollars. However, the </a:t>
            </a:r>
            <a:r>
              <a:rPr lang="en-US" dirty="0" err="1">
                <a:latin typeface="Times New Roman" panose="02020603050405020304" pitchFamily="18" charset="0"/>
                <a:cs typeface="Times New Roman" panose="02020603050405020304" pitchFamily="18" charset="0"/>
              </a:rPr>
              <a:t>sqft_lot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sqft_basement</a:t>
            </a:r>
            <a:r>
              <a:rPr lang="en-US" dirty="0">
                <a:latin typeface="Times New Roman" panose="02020603050405020304" pitchFamily="18" charset="0"/>
                <a:cs typeface="Times New Roman" panose="02020603050405020304" pitchFamily="18" charset="0"/>
              </a:rPr>
              <a:t> had </a:t>
            </a:r>
            <a:r>
              <a:rPr lang="en-US" dirty="0" err="1">
                <a:latin typeface="Times New Roman" panose="02020603050405020304" pitchFamily="18" charset="0"/>
                <a:cs typeface="Times New Roman" panose="02020603050405020304" pitchFamily="18" charset="0"/>
              </a:rPr>
              <a:t>negtive</a:t>
            </a:r>
            <a:r>
              <a:rPr lang="en-US" dirty="0">
                <a:latin typeface="Times New Roman" panose="02020603050405020304" pitchFamily="18" charset="0"/>
                <a:cs typeface="Times New Roman" panose="02020603050405020304" pitchFamily="18" charset="0"/>
              </a:rPr>
              <a:t> correlation to the house price even though the correlation value is very low compare to </a:t>
            </a:r>
            <a:r>
              <a:rPr lang="en-US" dirty="0" err="1">
                <a:latin typeface="Times New Roman" panose="02020603050405020304" pitchFamily="18" charset="0"/>
                <a:cs typeface="Times New Roman" panose="02020603050405020304" pitchFamily="18" charset="0"/>
              </a:rPr>
              <a:t>sqft_living</a:t>
            </a:r>
            <a:r>
              <a:rPr lang="en-US" dirty="0">
                <a:latin typeface="Times New Roman" panose="02020603050405020304" pitchFamily="18" charset="0"/>
                <a:cs typeface="Times New Roman" panose="02020603050405020304" pitchFamily="18" charset="0"/>
              </a:rPr>
              <a:t>. The number is bedrooms had </a:t>
            </a:r>
            <a:r>
              <a:rPr lang="en-US" dirty="0" smtClean="0">
                <a:latin typeface="Times New Roman" panose="02020603050405020304" pitchFamily="18" charset="0"/>
                <a:cs typeface="Times New Roman" panose="02020603050405020304" pitchFamily="18" charset="0"/>
              </a:rPr>
              <a:t>negative </a:t>
            </a:r>
            <a:r>
              <a:rPr lang="en-US" dirty="0" err="1">
                <a:latin typeface="Times New Roman" panose="02020603050405020304" pitchFamily="18" charset="0"/>
                <a:cs typeface="Times New Roman" panose="02020603050405020304" pitchFamily="18" charset="0"/>
              </a:rPr>
              <a:t>negtive</a:t>
            </a:r>
            <a:r>
              <a:rPr lang="en-US" dirty="0">
                <a:latin typeface="Times New Roman" panose="02020603050405020304" pitchFamily="18" charset="0"/>
                <a:cs typeface="Times New Roman" panose="02020603050405020304" pitchFamily="18" charset="0"/>
              </a:rPr>
              <a:t> correlation to the house price. More bathrooms, floors, views and conditions will increase the house price in general. Grade 4-7 decrease the house price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Coefficient of all the features show how each of the feature affect the house </a:t>
            </a:r>
            <a:r>
              <a:rPr lang="en-US" dirty="0" smtClean="0">
                <a:latin typeface="Times New Roman" panose="02020603050405020304" pitchFamily="18" charset="0"/>
                <a:cs typeface="Times New Roman" panose="02020603050405020304" pitchFamily="18" charset="0"/>
              </a:rPr>
              <a:t>price</a:t>
            </a:r>
            <a:endParaRPr lang="en-US" sz="1600" dirty="0" smtClean="0">
              <a:solidFill>
                <a:schemeClr val="tx1"/>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 Standard Errors assume that the covariance matrix of the errors is correctly specified.</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The smallest eigenvalue is 1.54e-22. This might indicate that there are</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strong multicollinearity problems or that the design matrix is singular</a:t>
            </a:r>
            <a:r>
              <a:rPr lang="en-US" sz="1600" dirty="0" smtClean="0">
                <a:solidFill>
                  <a:schemeClr val="tx1"/>
                </a:solidFill>
                <a:latin typeface="Times New Roman" panose="02020603050405020304" pitchFamily="18" charset="0"/>
                <a:cs typeface="Times New Roman" panose="02020603050405020304" pitchFamily="18" charset="0"/>
              </a:rPr>
              <a:t>	 </a:t>
            </a:r>
            <a:endParaRPr lang="en-US" sz="1600" dirty="0" smtClean="0">
              <a:solidFill>
                <a:schemeClr val="tx1"/>
              </a:solidFill>
              <a:latin typeface="Times New Roman" panose="02020603050405020304" pitchFamily="18" charset="0"/>
              <a:cs typeface="Times New Roman" panose="02020603050405020304" pitchFamily="18" charset="0"/>
            </a:endParaRPr>
          </a:p>
          <a:p>
            <a:r>
              <a:rPr lang="en-US" sz="1600" dirty="0">
                <a:solidFill>
                  <a:schemeClr val="tx1"/>
                </a:solidFill>
                <a:latin typeface="Times New Roman" panose="02020603050405020304" pitchFamily="18" charset="0"/>
                <a:cs typeface="Times New Roman" panose="02020603050405020304" pitchFamily="18" charset="0"/>
              </a:rPr>
              <a:t>According to my model the base price for a house is 4426846.67277999</a:t>
            </a:r>
            <a:r>
              <a:rPr lang="en-US" sz="1600" dirty="0" smtClean="0">
                <a:solidFill>
                  <a:schemeClr val="tx1"/>
                </a:solidFill>
                <a:latin typeface="Times New Roman" panose="02020603050405020304" pitchFamily="18" charset="0"/>
                <a:cs typeface="Times New Roman" panose="02020603050405020304" pitchFamily="18" charset="0"/>
              </a:rPr>
              <a:t>	</a:t>
            </a:r>
            <a:endParaRPr lang="en-US" sz="1600" dirty="0" smtClean="0">
              <a:solidFill>
                <a:schemeClr val="tx1"/>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To the seller, our model give them some suggestion how to increase the potential selling value. For example, they can try to renovate the house and make water front if possible and </a:t>
            </a:r>
            <a:r>
              <a:rPr lang="en-US" dirty="0" smtClean="0">
                <a:latin typeface="Times New Roman" panose="02020603050405020304" pitchFamily="18" charset="0"/>
                <a:cs typeface="Times New Roman" panose="02020603050405020304" pitchFamily="18" charset="0"/>
              </a:rPr>
              <a:t>increase </a:t>
            </a:r>
            <a:r>
              <a:rPr lang="en-US" dirty="0">
                <a:latin typeface="Times New Roman" panose="02020603050405020304" pitchFamily="18" charset="0"/>
                <a:cs typeface="Times New Roman" panose="02020603050405020304" pitchFamily="18" charset="0"/>
              </a:rPr>
              <a:t>the grade of the house.</a:t>
            </a:r>
            <a:r>
              <a:rPr lang="en-US" sz="1600" dirty="0" smtClean="0">
                <a:solidFill>
                  <a:schemeClr val="tx1"/>
                </a:solidFill>
                <a:latin typeface="Times New Roman" panose="02020603050405020304" pitchFamily="18" charset="0"/>
                <a:cs typeface="Times New Roman" panose="02020603050405020304" pitchFamily="18" charset="0"/>
              </a:rPr>
              <a:t>		</a:t>
            </a:r>
            <a:endParaRPr lang="en-US" sz="1600" dirty="0" smtClean="0">
              <a:solidFill>
                <a:schemeClr val="tx1"/>
              </a:solidFill>
              <a:latin typeface="Times New Roman" panose="02020603050405020304" pitchFamily="18" charset="0"/>
              <a:cs typeface="Times New Roman" panose="02020603050405020304" pitchFamily="18" charset="0"/>
            </a:endParaRPr>
          </a:p>
          <a:p>
            <a:r>
              <a:rPr lang="en-US" sz="1600" dirty="0" smtClean="0">
                <a:solidFill>
                  <a:schemeClr val="tx1"/>
                </a:solidFill>
                <a:latin typeface="Times New Roman" panose="02020603050405020304" pitchFamily="18" charset="0"/>
                <a:cs typeface="Times New Roman" panose="02020603050405020304" pitchFamily="18" charset="0"/>
              </a:rPr>
              <a:t>		       	 </a:t>
            </a:r>
            <a:endParaRPr lang="en-US" dirty="0" smtClean="0">
              <a:solidFill>
                <a:schemeClr val="tx1"/>
              </a:solidFill>
              <a:latin typeface="Times New Roman" panose="02020603050405020304" pitchFamily="18" charset="0"/>
              <a:cs typeface="Times New Roman" panose="02020603050405020304" pitchFamily="18" charset="0"/>
            </a:endParaRPr>
          </a:p>
          <a:p>
            <a:pPr marL="0" indent="0">
              <a:buNone/>
            </a:pPr>
            <a:endParaRPr lang="en-GB" sz="1500" dirty="0"/>
          </a:p>
        </p:txBody>
      </p:sp>
    </p:spTree>
    <p:extLst>
      <p:ext uri="{BB962C8B-B14F-4D97-AF65-F5344CB8AC3E}">
        <p14:creationId xmlns:p14="http://schemas.microsoft.com/office/powerpoint/2010/main" val="4033615214"/>
      </p:ext>
    </p:extLst>
  </p:cSld>
  <p:clrMapOvr>
    <a:masterClrMapping/>
  </p:clrMapOvr>
  <p:transition spd="slow">
    <p:push dir="u"/>
  </p:transition>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3423</TotalTime>
  <Words>585</Words>
  <Application>Microsoft Office PowerPoint</Application>
  <PresentationFormat>Widescreen</PresentationFormat>
  <Paragraphs>35</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Century Gothic</vt:lpstr>
      <vt:lpstr>Times New Roman</vt:lpstr>
      <vt:lpstr>Wingdings 3</vt:lpstr>
      <vt:lpstr>Wisp</vt:lpstr>
      <vt:lpstr>Phase 2 project   </vt:lpstr>
      <vt:lpstr>Business Problem</vt:lpstr>
      <vt:lpstr>Key Points</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Risk Factors Associated with Cholera in Kenya: A Case Study of the KIHBS 2015/2016 Survey Data.</dc:title>
  <dc:creator>CAROLINE KABARIA</dc:creator>
  <cp:lastModifiedBy>ADMIN</cp:lastModifiedBy>
  <cp:revision>120</cp:revision>
  <dcterms:created xsi:type="dcterms:W3CDTF">2020-08-25T17:39:47Z</dcterms:created>
  <dcterms:modified xsi:type="dcterms:W3CDTF">2023-03-28T09:58:29Z</dcterms:modified>
</cp:coreProperties>
</file>